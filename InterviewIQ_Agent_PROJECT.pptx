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10" r:id="rId20"/>
    <p:sldId id="308" r:id="rId21"/>
    <p:sldId id="30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7" d="100"/>
          <a:sy n="117" d="100"/>
        </p:scale>
        <p:origin x="-3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112277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MESHKRISHNAA2006/InterviewIQ-Agentic-AI-Interview-Trainer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478167221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GANGADHARAM UMESH KRISHNAA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gangadharamumeshkrishnaa2006@gmail.com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9949831679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 smtClean="0"/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 err="1"/>
              <a:t>InterviewIQ</a:t>
            </a:r>
            <a:r>
              <a:rPr lang="en-US" sz="2400" b="1" dirty="0"/>
              <a:t> – Agentic AI Interview </a:t>
            </a:r>
            <a:r>
              <a:rPr lang="en-US" sz="2400" b="1" dirty="0" smtClean="0"/>
              <a:t>Trainer</a:t>
            </a:r>
          </a:p>
          <a:p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67" y="3663025"/>
            <a:ext cx="701689" cy="96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Problem Statement: </a:t>
            </a:r>
            <a:r>
              <a:rPr lang="en-US" b="1" dirty="0" err="1"/>
              <a:t>InterviewIQ</a:t>
            </a:r>
            <a:r>
              <a:rPr lang="en-US" b="1" dirty="0"/>
              <a:t> – Agentic AI Interview Trainer</a:t>
            </a:r>
          </a:p>
          <a:p>
            <a:pPr algn="just"/>
            <a:r>
              <a:rPr lang="en-US" b="1" dirty="0"/>
              <a:t>The Challenge</a:t>
            </a:r>
            <a:endParaRPr lang="en-US" dirty="0"/>
          </a:p>
          <a:p>
            <a:pPr algn="just"/>
            <a:r>
              <a:rPr lang="en-US" dirty="0"/>
              <a:t>Interview preparation is often </a:t>
            </a:r>
            <a:r>
              <a:rPr lang="en-US" b="1" dirty="0"/>
              <a:t>generic, repetitive, and disconnected from the candidate’s actual profile and target role</a:t>
            </a:r>
            <a:r>
              <a:rPr lang="en-US" dirty="0"/>
              <a:t>. Candidates may practice random interview questions without knowing which skills they need to improve, how well their answers perform, or what questions are relevant to a specific job description. Personalized feedback and adaptive interview practice are also difficult to obtain without a dedicated interviewer.</a:t>
            </a:r>
          </a:p>
          <a:p>
            <a:pPr algn="just"/>
            <a:r>
              <a:rPr lang="en-US" b="1" dirty="0"/>
              <a:t>The Objective</a:t>
            </a:r>
            <a:endParaRPr lang="en-US" dirty="0"/>
          </a:p>
          <a:p>
            <a:pPr algn="just"/>
            <a:r>
              <a:rPr lang="en-US" dirty="0"/>
              <a:t>Build an </a:t>
            </a:r>
            <a:r>
              <a:rPr lang="en-US" b="1" dirty="0"/>
              <a:t>AI-powered Agentic Interview Trainer</a:t>
            </a:r>
            <a:r>
              <a:rPr lang="en-US" dirty="0"/>
              <a:t> that provides </a:t>
            </a:r>
            <a:r>
              <a:rPr lang="en-US" b="1" dirty="0"/>
              <a:t>personalized, role-specific, and adaptive interview preparation</a:t>
            </a:r>
            <a:r>
              <a:rPr lang="en-US" dirty="0"/>
              <a:t> using the candidate’s resume, target role, and job requirements. The solution should:</a:t>
            </a:r>
          </a:p>
          <a:p>
            <a:pPr algn="just"/>
            <a:r>
              <a:rPr lang="en-US" dirty="0"/>
              <a:t>• </a:t>
            </a:r>
            <a:r>
              <a:rPr lang="en-US" b="1" dirty="0"/>
              <a:t>Resume-Based Candidate Profiling</a:t>
            </a:r>
            <a:r>
              <a:rPr lang="en-US" dirty="0"/>
              <a:t> – Analyze the candidate’s resume using </a:t>
            </a:r>
            <a:r>
              <a:rPr lang="en-US" b="1" dirty="0"/>
              <a:t>IBM Granite</a:t>
            </a:r>
            <a:r>
              <a:rPr lang="en-US" dirty="0"/>
              <a:t> to extract skills, experience, projects, technologies, and other relevant information.</a:t>
            </a:r>
          </a:p>
          <a:p>
            <a:pPr algn="just"/>
            <a:r>
              <a:rPr lang="en-US" dirty="0"/>
              <a:t>• </a:t>
            </a:r>
            <a:r>
              <a:rPr lang="en-US" b="1" dirty="0"/>
              <a:t>Job Description Analysis</a:t>
            </a:r>
            <a:r>
              <a:rPr lang="en-US" dirty="0"/>
              <a:t> – Analyze the target job description to identify required skills, responsibilities, technical domains, and role expectations.</a:t>
            </a:r>
          </a:p>
          <a:p>
            <a:pPr algn="just"/>
            <a:r>
              <a:rPr lang="en-US" dirty="0"/>
              <a:t>• </a:t>
            </a:r>
            <a:r>
              <a:rPr lang="en-US" b="1" dirty="0"/>
              <a:t>Skill Gap Matching</a:t>
            </a:r>
            <a:r>
              <a:rPr lang="en-US" dirty="0"/>
              <a:t> – Compare the candidate profile with job requirements to identify </a:t>
            </a:r>
            <a:r>
              <a:rPr lang="en-US" b="1" dirty="0"/>
              <a:t>strengths, missing skills, and areas requiring improvement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• </a:t>
            </a:r>
            <a:r>
              <a:rPr lang="en-US" b="1" dirty="0"/>
              <a:t>Personalized Interview Preparation</a:t>
            </a:r>
            <a:r>
              <a:rPr lang="en-US" dirty="0"/>
              <a:t> – Generate an interview strategy and questions based on the candidate’s background, target role, job requirements, and identified skill gaps.</a:t>
            </a:r>
          </a:p>
          <a:p>
            <a:pPr algn="just"/>
            <a:r>
              <a:rPr lang="en-US" dirty="0"/>
              <a:t>• </a:t>
            </a:r>
            <a:r>
              <a:rPr lang="en-US" b="1" dirty="0"/>
              <a:t>RAG Knowledge Retrieval</a:t>
            </a:r>
            <a:r>
              <a:rPr lang="en-US" dirty="0"/>
              <a:t> – Retrieve relevant information from a curated </a:t>
            </a:r>
            <a:r>
              <a:rPr lang="en-US" b="1" dirty="0"/>
              <a:t>Interview Knowledge Base</a:t>
            </a:r>
            <a:r>
              <a:rPr lang="en-US" dirty="0"/>
              <a:t> containing technical domains, role expectations, behavioral and HR guidance, interview best practices, adaptive interviewing rules, and answer-evaluation criteria.</a:t>
            </a:r>
          </a:p>
          <a:p>
            <a:pPr algn="just"/>
            <a:r>
              <a:rPr lang="en-US" dirty="0"/>
              <a:t>• </a:t>
            </a:r>
            <a:r>
              <a:rPr lang="en-US" b="1" dirty="0"/>
              <a:t>Agentic Adaptive Interview</a:t>
            </a:r>
            <a:r>
              <a:rPr lang="en-US" dirty="0"/>
              <a:t> – Use </a:t>
            </a:r>
            <a:r>
              <a:rPr lang="en-US" b="1" dirty="0" err="1"/>
              <a:t>watsonx</a:t>
            </a:r>
            <a:r>
              <a:rPr lang="en-US" b="1" dirty="0"/>
              <a:t> Orchestrate</a:t>
            </a:r>
            <a:r>
              <a:rPr lang="en-US" dirty="0"/>
              <a:t> to conduct an interactive interview that dynamically selects the next question and adjusts difficulty based on the candidate’s responses.</a:t>
            </a:r>
          </a:p>
          <a:p>
            <a:pPr algn="just"/>
            <a:r>
              <a:rPr lang="en-US" dirty="0"/>
              <a:t>• </a:t>
            </a:r>
            <a:r>
              <a:rPr lang="en-US" b="1" dirty="0"/>
              <a:t>Multi-Domain Interviewing</a:t>
            </a:r>
            <a:r>
              <a:rPr lang="en-US" dirty="0"/>
              <a:t> – Evaluate candidates across:</a:t>
            </a:r>
            <a:br>
              <a:rPr lang="en-US" dirty="0"/>
            </a:br>
            <a:r>
              <a:rPr lang="en-US" dirty="0" smtClean="0"/>
              <a:t>• </a:t>
            </a:r>
            <a:r>
              <a:rPr lang="en-US" b="1" dirty="0"/>
              <a:t>IBM Cloud &amp; AI Integration</a:t>
            </a:r>
            <a:r>
              <a:rPr lang="en-US" dirty="0"/>
              <a:t> – Leverage </a:t>
            </a:r>
            <a:r>
              <a:rPr lang="en-US" b="1" dirty="0"/>
              <a:t>IBM Granite, watsonx.ai, </a:t>
            </a:r>
            <a:r>
              <a:rPr lang="en-US" b="1" dirty="0" err="1"/>
              <a:t>watsonx</a:t>
            </a:r>
            <a:r>
              <a:rPr lang="en-US" b="1" dirty="0"/>
              <a:t> Orchestrate, Prompt Lab, and IBM Cloud</a:t>
            </a:r>
            <a:r>
              <a:rPr lang="en-US" dirty="0"/>
              <a:t> to build a secure and scalable agentic AI interview-training </a:t>
            </a:r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endParaRPr lang="en-US" b="1" dirty="0"/>
          </a:p>
          <a:p>
            <a:pPr algn="just"/>
            <a:r>
              <a:rPr lang="en-US" b="1" dirty="0"/>
              <a:t>Proposed Solution: AI-Powered </a:t>
            </a:r>
            <a:r>
              <a:rPr lang="en-US" b="1" dirty="0" err="1"/>
              <a:t>InterviewIQ</a:t>
            </a:r>
            <a:r>
              <a:rPr lang="en-US" b="1" dirty="0"/>
              <a:t> Agent</a:t>
            </a:r>
          </a:p>
          <a:p>
            <a:pPr algn="just"/>
            <a:r>
              <a:rPr lang="en-US" dirty="0"/>
              <a:t>The proposed solution is an </a:t>
            </a:r>
            <a:r>
              <a:rPr lang="en-US" b="1" dirty="0"/>
              <a:t>AI-powered Interview Trainer</a:t>
            </a:r>
            <a:r>
              <a:rPr lang="en-US" dirty="0"/>
              <a:t> built using </a:t>
            </a:r>
            <a:r>
              <a:rPr lang="en-US" b="1" dirty="0"/>
              <a:t>IBM Granite, watsonx.ai, </a:t>
            </a:r>
            <a:r>
              <a:rPr lang="en-US" b="1" dirty="0" err="1"/>
              <a:t>watsonx</a:t>
            </a:r>
            <a:r>
              <a:rPr lang="en-US" b="1" dirty="0"/>
              <a:t> Orchestrate, and IBM Cloud</a:t>
            </a:r>
            <a:r>
              <a:rPr lang="en-US" dirty="0"/>
              <a:t>. It helps candidates prepare for interviews based on their </a:t>
            </a:r>
            <a:r>
              <a:rPr lang="en-US" b="1" dirty="0"/>
              <a:t>resume, target role, and job description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system uses </a:t>
            </a:r>
            <a:r>
              <a:rPr lang="en-US" b="1" dirty="0"/>
              <a:t>AI and RAG</a:t>
            </a:r>
            <a:r>
              <a:rPr lang="en-US" dirty="0"/>
              <a:t> to retrieve relevant interview knowledge and generate personalized questions, feedback, and preparation guidance.</a:t>
            </a:r>
          </a:p>
          <a:p>
            <a:pPr algn="just"/>
            <a:r>
              <a:rPr lang="en-US" dirty="0"/>
              <a:t>The solution includes:</a:t>
            </a:r>
          </a:p>
          <a:p>
            <a:pPr algn="just"/>
            <a:r>
              <a:rPr lang="en-US" b="1" dirty="0"/>
              <a:t>Candidate Profiling</a:t>
            </a:r>
            <a:r>
              <a:rPr lang="en-US" dirty="0"/>
              <a:t> – Analyzes the resume and extracts skills, projects, experience, and technologies.</a:t>
            </a:r>
          </a:p>
          <a:p>
            <a:pPr algn="just"/>
            <a:r>
              <a:rPr lang="en-US" b="1" dirty="0"/>
              <a:t>Job Analysis</a:t>
            </a:r>
            <a:r>
              <a:rPr lang="en-US" dirty="0"/>
              <a:t> – Analyzes the job description and identifies required skills and responsibilities.</a:t>
            </a:r>
          </a:p>
          <a:p>
            <a:pPr algn="just"/>
            <a:r>
              <a:rPr lang="en-US" b="1" dirty="0"/>
              <a:t>Skill Gap Analysis</a:t>
            </a:r>
            <a:r>
              <a:rPr lang="en-US" dirty="0"/>
              <a:t> – Compares the candidate's skills with the job requirements and identifies areas for improvement.</a:t>
            </a:r>
          </a:p>
          <a:p>
            <a:pPr algn="just"/>
            <a:r>
              <a:rPr lang="en-US" b="1" dirty="0"/>
              <a:t>Adaptive Interview Agent</a:t>
            </a:r>
            <a:r>
              <a:rPr lang="en-US" dirty="0"/>
              <a:t> – Uses </a:t>
            </a:r>
            <a:r>
              <a:rPr lang="en-US" b="1" dirty="0" err="1"/>
              <a:t>watsonx</a:t>
            </a:r>
            <a:r>
              <a:rPr lang="en-US" b="1" dirty="0"/>
              <a:t> Orchestrate</a:t>
            </a:r>
            <a:r>
              <a:rPr lang="en-US" dirty="0"/>
              <a:t> to conduct technical, behavioral, and HR interviews and adjust questions based on the candidate's answers.</a:t>
            </a:r>
          </a:p>
          <a:p>
            <a:pPr algn="just"/>
            <a:r>
              <a:rPr lang="en-US" b="1" dirty="0"/>
              <a:t>RAG Knowledge Base</a:t>
            </a:r>
            <a:r>
              <a:rPr lang="en-US" dirty="0"/>
              <a:t> – Retrieves relevant interview guidelines, role expectations, technical topics, behavioral guidance, and evaluation criteria.</a:t>
            </a:r>
          </a:p>
          <a:p>
            <a:pPr algn="just"/>
            <a:r>
              <a:rPr lang="en-US" b="1" dirty="0"/>
              <a:t>Answer Evaluation</a:t>
            </a:r>
            <a:r>
              <a:rPr lang="en-US" dirty="0"/>
              <a:t> – Evaluates candidate responses and provides scores, strengths, weaknesses, and improvement suggestions.</a:t>
            </a:r>
          </a:p>
          <a:p>
            <a:pPr algn="just"/>
            <a:r>
              <a:rPr lang="en-US" b="1" dirty="0"/>
              <a:t>Performance Report</a:t>
            </a:r>
            <a:r>
              <a:rPr lang="en-US" dirty="0"/>
              <a:t> – Provides an overall interview assessment and a personalized improvement roadmap.</a:t>
            </a:r>
          </a:p>
          <a:p>
            <a:pPr algn="just"/>
            <a:r>
              <a:rPr lang="en-US" dirty="0"/>
              <a:t>The application uses </a:t>
            </a:r>
            <a:r>
              <a:rPr lang="en-US" b="1" dirty="0"/>
              <a:t>Next.js and React</a:t>
            </a:r>
            <a:r>
              <a:rPr lang="en-US" dirty="0"/>
              <a:t> for the web interface, </a:t>
            </a:r>
            <a:r>
              <a:rPr lang="en-US" b="1" dirty="0"/>
              <a:t>IBM Granite</a:t>
            </a:r>
            <a:r>
              <a:rPr lang="en-US" dirty="0"/>
              <a:t> for AI-powered analysis, and </a:t>
            </a:r>
            <a:r>
              <a:rPr lang="en-US" b="1" dirty="0" err="1"/>
              <a:t>watsonx</a:t>
            </a:r>
            <a:r>
              <a:rPr lang="en-US" b="1" dirty="0"/>
              <a:t> Orchestrate</a:t>
            </a:r>
            <a:r>
              <a:rPr lang="en-US" dirty="0"/>
              <a:t> for agentic interview workflows.</a:t>
            </a:r>
          </a:p>
          <a:p>
            <a:pPr algn="just"/>
            <a:r>
              <a:rPr lang="en-US" dirty="0"/>
              <a:t>Overall, </a:t>
            </a:r>
            <a:r>
              <a:rPr lang="en-US" b="1" dirty="0" err="1"/>
              <a:t>InterviewIQ</a:t>
            </a:r>
            <a:r>
              <a:rPr lang="en-US" b="1" dirty="0"/>
              <a:t> provides a personalized and adaptive interview experience that helps candidates practice, understand their weaknesses, and improve their interview performance.</a:t>
            </a:r>
            <a:endParaRPr lang="en-US" dirty="0"/>
          </a:p>
          <a:p>
            <a:pPr algn="just" fontAlgn="base"/>
            <a:endParaRPr lang="en-US" dirty="0"/>
          </a:p>
          <a:p>
            <a:pPr algn="just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• </a:t>
            </a:r>
            <a:r>
              <a:rPr lang="en-US" sz="1800" b="1" dirty="0"/>
              <a:t>IBM Bob platform</a:t>
            </a:r>
            <a:r>
              <a:rPr lang="en-US" sz="1800" dirty="0"/>
              <a:t> – Used for designing and developing the </a:t>
            </a:r>
            <a:r>
              <a:rPr lang="en-US" sz="1800" dirty="0" err="1"/>
              <a:t>InterviewIQ</a:t>
            </a:r>
            <a:r>
              <a:rPr lang="en-US" sz="1800" dirty="0"/>
              <a:t> application and implementing the AI-powered workflow.</a:t>
            </a:r>
          </a:p>
          <a:p>
            <a:pPr algn="just"/>
            <a:r>
              <a:rPr lang="en-US" sz="1800" dirty="0"/>
              <a:t>• </a:t>
            </a:r>
            <a:r>
              <a:rPr lang="en-US" sz="1800" b="1" dirty="0"/>
              <a:t>IBM Granite Model</a:t>
            </a:r>
            <a:r>
              <a:rPr lang="en-US" sz="1800" dirty="0"/>
              <a:t> – </a:t>
            </a:r>
            <a:r>
              <a:rPr lang="en-US" sz="1800" b="1" dirty="0"/>
              <a:t>Granite 4.0 H Small</a:t>
            </a:r>
            <a:r>
              <a:rPr lang="en-US" sz="1800" dirty="0"/>
              <a:t> – Used for resume analysis, candidate profiling, job description analysis, and AI-powered reasoning.</a:t>
            </a:r>
          </a:p>
          <a:p>
            <a:pPr algn="just"/>
            <a:r>
              <a:rPr lang="en-US" sz="1800" dirty="0"/>
              <a:t>• </a:t>
            </a:r>
            <a:r>
              <a:rPr lang="en-US" sz="1800" b="1" dirty="0"/>
              <a:t>IBM Cloud</a:t>
            </a:r>
            <a:r>
              <a:rPr lang="en-US" sz="1800" dirty="0"/>
              <a:t> – Provides the secure and scalable cloud infrastructure required to run and integrate the AI services.</a:t>
            </a:r>
          </a:p>
          <a:p>
            <a:pPr algn="just"/>
            <a:r>
              <a:rPr lang="en-US" sz="1800" dirty="0"/>
              <a:t>• </a:t>
            </a:r>
            <a:r>
              <a:rPr lang="en-US" sz="1800" b="1" dirty="0"/>
              <a:t>RAG</a:t>
            </a:r>
            <a:r>
              <a:rPr lang="en-US" sz="1800" dirty="0"/>
              <a:t> – Used to </a:t>
            </a:r>
            <a:r>
              <a:rPr lang="en-US" sz="1800" b="1" dirty="0"/>
              <a:t>retrieve relevant interview knowledge first and then generate grounded questions and feedback</a:t>
            </a:r>
            <a:r>
              <a:rPr lang="en-US" sz="1800" dirty="0"/>
              <a:t>, making the interview more relevant and reliable.</a:t>
            </a:r>
          </a:p>
          <a:p>
            <a:pPr algn="just"/>
            <a:r>
              <a:rPr lang="en-US" sz="1800" dirty="0"/>
              <a:t>• </a:t>
            </a:r>
            <a:r>
              <a:rPr lang="en-US" sz="1800" b="1" dirty="0"/>
              <a:t>IBM watsonx.ai</a:t>
            </a:r>
            <a:r>
              <a:rPr lang="en-US" sz="1800" dirty="0"/>
              <a:t> – Used to access and integrate IBM Granite models for AI-powered analysis and generation.</a:t>
            </a:r>
          </a:p>
          <a:p>
            <a:pPr algn="just"/>
            <a:r>
              <a:rPr lang="en-US" sz="1800" dirty="0"/>
              <a:t>• </a:t>
            </a:r>
            <a:r>
              <a:rPr lang="en-US" sz="1800" b="1" dirty="0"/>
              <a:t>IBM </a:t>
            </a:r>
            <a:r>
              <a:rPr lang="en-US" sz="1800" b="1" dirty="0" err="1"/>
              <a:t>watsonx</a:t>
            </a:r>
            <a:r>
              <a:rPr lang="en-US" sz="1800" b="1" dirty="0"/>
              <a:t> Orchestrate</a:t>
            </a:r>
            <a:r>
              <a:rPr lang="en-US" sz="1800" dirty="0"/>
              <a:t> – Used to manage the </a:t>
            </a:r>
            <a:r>
              <a:rPr lang="en-US" sz="1800" b="1" dirty="0"/>
              <a:t>agentic interview workflow</a:t>
            </a:r>
            <a:r>
              <a:rPr lang="en-US" sz="1800" dirty="0"/>
              <a:t>, adaptive questioning, RAG retrieval, answer evaluation, and personalized feedback.</a:t>
            </a:r>
          </a:p>
          <a:p>
            <a:pPr algn="just"/>
            <a:r>
              <a:rPr lang="en-US" sz="1800" dirty="0"/>
              <a:t>• </a:t>
            </a:r>
            <a:r>
              <a:rPr lang="en-US" sz="1800" b="1" dirty="0"/>
              <a:t>Interview Knowledge Base</a:t>
            </a:r>
            <a:r>
              <a:rPr lang="en-US" sz="1800" dirty="0"/>
              <a:t> – Contains role expectations, technical topics, behavioral and HR guidelines, interview best practices, and answer-evaluation criteria for RAG retrieval.</a:t>
            </a:r>
          </a:p>
          <a:p>
            <a:pPr algn="just"/>
            <a:r>
              <a:rPr lang="en-US" sz="1800" dirty="0"/>
              <a:t>• </a:t>
            </a:r>
            <a:r>
              <a:rPr lang="en-US" sz="1800" b="1" dirty="0"/>
              <a:t>Next.js &amp; React</a:t>
            </a:r>
            <a:r>
              <a:rPr lang="en-US" sz="1800" dirty="0"/>
              <a:t> – Used to build the </a:t>
            </a:r>
            <a:r>
              <a:rPr lang="en-US" sz="1800" b="1" dirty="0"/>
              <a:t>web-based </a:t>
            </a:r>
            <a:r>
              <a:rPr lang="en-US" sz="1800" b="1" dirty="0" err="1"/>
              <a:t>InterviewIQ</a:t>
            </a:r>
            <a:r>
              <a:rPr lang="en-US" sz="1800" b="1" dirty="0"/>
              <a:t> interface</a:t>
            </a:r>
            <a:r>
              <a:rPr lang="en-US" sz="1800" dirty="0"/>
              <a:t> for resume upload, interview sessions, questions, answers, and feedback.</a:t>
            </a:r>
          </a:p>
          <a:p>
            <a:pPr algn="just"/>
            <a:r>
              <a:rPr lang="en-US" sz="1800" dirty="0"/>
              <a:t>• </a:t>
            </a:r>
            <a:r>
              <a:rPr lang="en-US" sz="1800" b="1" dirty="0"/>
              <a:t>IBM </a:t>
            </a:r>
            <a:r>
              <a:rPr lang="en-US" sz="1800" b="1" dirty="0" err="1"/>
              <a:t>watsonx</a:t>
            </a:r>
            <a:r>
              <a:rPr lang="en-US" sz="1800" b="1" dirty="0"/>
              <a:t> Prompt Lab</a:t>
            </a:r>
            <a:r>
              <a:rPr lang="en-US" sz="1800" dirty="0"/>
              <a:t> – Used for developing and testing prompts for the AI components.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3" y="771747"/>
            <a:ext cx="10058400" cy="540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71" y="852642"/>
            <a:ext cx="10058400" cy="542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93" y="763092"/>
            <a:ext cx="10058400" cy="526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264" y="1200150"/>
            <a:ext cx="7260771" cy="484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algn="just"/>
            <a:r>
              <a:rPr lang="en-US" b="1" dirty="0"/>
              <a:t>Role of Agentic AI in </a:t>
            </a:r>
            <a:r>
              <a:rPr lang="en-US" b="1" dirty="0" err="1"/>
              <a:t>InterviewIQ</a:t>
            </a:r>
            <a:endParaRPr lang="en-US" b="1" dirty="0"/>
          </a:p>
          <a:p>
            <a:pPr algn="just"/>
            <a:r>
              <a:rPr lang="en-US" b="1" dirty="0"/>
              <a:t>Agentic AI</a:t>
            </a:r>
            <a:r>
              <a:rPr lang="en-US" dirty="0"/>
              <a:t> enables </a:t>
            </a:r>
            <a:r>
              <a:rPr lang="en-US" dirty="0" err="1"/>
              <a:t>InterviewIQ</a:t>
            </a:r>
            <a:r>
              <a:rPr lang="en-US" dirty="0"/>
              <a:t> to work as an </a:t>
            </a:r>
            <a:r>
              <a:rPr lang="en-US" b="1" dirty="0"/>
              <a:t>intelligent and adaptive interview trainer</a:t>
            </a:r>
            <a:r>
              <a:rPr lang="en-US" dirty="0"/>
              <a:t> rather than a simple </a:t>
            </a:r>
            <a:r>
              <a:rPr lang="en-US" dirty="0" err="1"/>
              <a:t>chatbot</a:t>
            </a:r>
            <a:r>
              <a:rPr lang="en-US" dirty="0"/>
              <a:t>. Using </a:t>
            </a:r>
            <a:r>
              <a:rPr lang="en-US" b="1" dirty="0"/>
              <a:t>IBM </a:t>
            </a:r>
            <a:r>
              <a:rPr lang="en-US" b="1" dirty="0" err="1"/>
              <a:t>watsonx</a:t>
            </a:r>
            <a:r>
              <a:rPr lang="en-US" b="1" dirty="0"/>
              <a:t> Orchestrate and IBM Granite</a:t>
            </a:r>
            <a:r>
              <a:rPr lang="en-US" dirty="0"/>
              <a:t>, it coordinates different AI capabilities to provide personalized interview preparation.</a:t>
            </a:r>
          </a:p>
          <a:p>
            <a:pPr algn="just"/>
            <a:r>
              <a:rPr lang="en-US" dirty="0"/>
              <a:t>The system performs different tasks such as </a:t>
            </a:r>
            <a:r>
              <a:rPr lang="en-US" b="1" dirty="0"/>
              <a:t>analyzing the candidate’s resume, analyzing job requirements, generating interview questions, evaluating answers, and providing feedback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Agentic AI provides </a:t>
            </a:r>
            <a:r>
              <a:rPr lang="en-US" b="1" dirty="0"/>
              <a:t>context awareness</a:t>
            </a:r>
            <a:r>
              <a:rPr lang="en-US" dirty="0"/>
              <a:t>, using information such as the candidate’s skills, projects, experience, target role, and job description to make the interview more relevant.</a:t>
            </a:r>
          </a:p>
          <a:p>
            <a:pPr algn="just"/>
            <a:r>
              <a:rPr lang="en-US" dirty="0"/>
              <a:t>It also supports </a:t>
            </a:r>
            <a:r>
              <a:rPr lang="en-US" b="1" dirty="0"/>
              <a:t>real-time adaptation</a:t>
            </a:r>
            <a:r>
              <a:rPr lang="en-US" dirty="0"/>
              <a:t>. Based on the candidate’s answers and performance, </a:t>
            </a:r>
            <a:r>
              <a:rPr lang="en-US" dirty="0" err="1"/>
              <a:t>InterviewIQ</a:t>
            </a:r>
            <a:r>
              <a:rPr lang="en-US" dirty="0"/>
              <a:t> can adjust the difficulty and type of the next question.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RAG knowledge base</a:t>
            </a:r>
            <a:r>
              <a:rPr lang="en-US" dirty="0"/>
              <a:t> provides relevant interview knowledge, role expectations, technical topics, behavioral guidance, and evaluation criteria to support accurate and relevant responses.</a:t>
            </a:r>
          </a:p>
          <a:p>
            <a:pPr algn="just"/>
            <a:r>
              <a:rPr lang="en-US" dirty="0"/>
              <a:t>Overall, Agentic AI makes </a:t>
            </a:r>
            <a:r>
              <a:rPr lang="en-US" dirty="0" err="1"/>
              <a:t>InterviewIQ</a:t>
            </a:r>
            <a:r>
              <a:rPr lang="en-US" dirty="0"/>
              <a:t> </a:t>
            </a:r>
            <a:r>
              <a:rPr lang="en-US" b="1" dirty="0"/>
              <a:t>personalized, adaptive, and goal-driven</a:t>
            </a:r>
            <a:r>
              <a:rPr lang="en-US" dirty="0"/>
              <a:t>, acting like a </a:t>
            </a:r>
            <a:r>
              <a:rPr lang="en-US" b="1" dirty="0"/>
              <a:t>smart digital interview coach</a:t>
            </a:r>
            <a:r>
              <a:rPr lang="en-US" dirty="0"/>
              <a:t> that helps candidates practice and improve their interview performance.</a:t>
            </a:r>
          </a:p>
          <a:p>
            <a:pPr algn="just"/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25" y="1593498"/>
            <a:ext cx="33337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90"/>
          <a:stretch/>
        </p:blipFill>
        <p:spPr>
          <a:xfrm>
            <a:off x="6483743" y="2304061"/>
            <a:ext cx="5313649" cy="41828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7" t="-4858" r="32955" b="4858"/>
          <a:stretch/>
        </p:blipFill>
        <p:spPr>
          <a:xfrm>
            <a:off x="423841" y="2475526"/>
            <a:ext cx="5318272" cy="354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87" y="958287"/>
            <a:ext cx="9650184" cy="504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44" y="1302468"/>
            <a:ext cx="5679692" cy="45112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539" y="1065407"/>
            <a:ext cx="3399974" cy="498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017" y="1072651"/>
            <a:ext cx="3219899" cy="38962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419" y="667268"/>
            <a:ext cx="4894930" cy="4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65F54F-855A-0DB6-09A6-3212C5F7405B}"/>
              </a:ext>
            </a:extLst>
          </p:cNvPr>
          <p:cNvSpPr txBox="1"/>
          <p:nvPr/>
        </p:nvSpPr>
        <p:spPr>
          <a:xfrm>
            <a:off x="515983" y="1049760"/>
            <a:ext cx="1130198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1" dirty="0"/>
              <a:t>What Makes </a:t>
            </a:r>
            <a:r>
              <a:rPr lang="en-US" sz="1800" b="1" dirty="0" err="1"/>
              <a:t>InterviewIQ</a:t>
            </a:r>
            <a:r>
              <a:rPr lang="en-US" sz="1800" b="1" dirty="0"/>
              <a:t> Unique</a:t>
            </a:r>
          </a:p>
          <a:p>
            <a:pPr algn="just"/>
            <a:r>
              <a:rPr lang="en-US" sz="1800" dirty="0"/>
              <a:t>The proposed </a:t>
            </a:r>
            <a:r>
              <a:rPr lang="en-US" sz="1800" dirty="0" err="1"/>
              <a:t>InterviewIQ</a:t>
            </a:r>
            <a:r>
              <a:rPr lang="en-US" sz="1800" dirty="0"/>
              <a:t> solution stands out by combining </a:t>
            </a:r>
            <a:r>
              <a:rPr lang="en-US" sz="1800" b="1" dirty="0"/>
              <a:t>Agentic AI, RAG, and personalization</a:t>
            </a:r>
            <a:r>
              <a:rPr lang="en-US" sz="1800" dirty="0"/>
              <a:t> into a single intelligent interview-training system.</a:t>
            </a:r>
          </a:p>
          <a:p>
            <a:pPr algn="just"/>
            <a:r>
              <a:rPr lang="en-US" sz="1800" b="1" dirty="0"/>
              <a:t>Agentic Interview Intelligence</a:t>
            </a:r>
            <a:r>
              <a:rPr lang="en-US" sz="1800" dirty="0"/>
              <a:t> – Uses AI agents to conduct interviews, evaluate answers, and adapt the next question based on the candidate’s performance.</a:t>
            </a:r>
          </a:p>
          <a:p>
            <a:pPr algn="just"/>
            <a:r>
              <a:rPr lang="en-US" sz="1800" b="1" dirty="0"/>
              <a:t>RAG-Based Accuracy</a:t>
            </a:r>
            <a:r>
              <a:rPr lang="en-US" sz="1800" dirty="0"/>
              <a:t> – Retrieves relevant interview knowledge, role expectations, and evaluation guidelines before generating questions and feedback.</a:t>
            </a:r>
          </a:p>
          <a:p>
            <a:pPr algn="just"/>
            <a:r>
              <a:rPr lang="en-US" sz="1800" b="1" dirty="0"/>
              <a:t>Personalized Preparation</a:t>
            </a:r>
            <a:r>
              <a:rPr lang="en-US" sz="1800" dirty="0"/>
              <a:t> – Tailors the interview based on the candidate’s </a:t>
            </a:r>
            <a:r>
              <a:rPr lang="en-US" sz="1800" b="1" dirty="0"/>
              <a:t>resume, target role, job description, skills, and experience</a:t>
            </a:r>
            <a:r>
              <a:rPr lang="en-US" sz="1800" dirty="0"/>
              <a:t>.</a:t>
            </a:r>
          </a:p>
          <a:p>
            <a:pPr algn="just"/>
            <a:r>
              <a:rPr lang="en-US" sz="1800" b="1" dirty="0"/>
              <a:t>Adaptive Interview Flow</a:t>
            </a:r>
            <a:r>
              <a:rPr lang="en-US" sz="1800" dirty="0"/>
              <a:t> – Continuously adjusts the </a:t>
            </a:r>
            <a:r>
              <a:rPr lang="en-US" sz="1800" b="1" dirty="0"/>
              <a:t>question type and difficulty</a:t>
            </a:r>
            <a:r>
              <a:rPr lang="en-US" sz="1800" dirty="0"/>
              <a:t> based on the candidate’s answers.</a:t>
            </a:r>
          </a:p>
          <a:p>
            <a:pPr algn="just"/>
            <a:r>
              <a:rPr lang="en-US" sz="1800" b="1" dirty="0"/>
              <a:t>Multi-Domain Assessment</a:t>
            </a:r>
            <a:r>
              <a:rPr lang="en-US" sz="1800" dirty="0"/>
              <a:t> – Evaluates </a:t>
            </a:r>
            <a:r>
              <a:rPr lang="en-US" sz="1800" b="1" dirty="0"/>
              <a:t>technical, behavioral, and HR skills</a:t>
            </a:r>
            <a:r>
              <a:rPr lang="en-US" sz="1800" dirty="0"/>
              <a:t> in a single interview session.</a:t>
            </a:r>
          </a:p>
          <a:p>
            <a:pPr algn="just"/>
            <a:r>
              <a:rPr lang="en-US" sz="1800" b="1" dirty="0"/>
              <a:t>AI-Powered Feedback</a:t>
            </a:r>
            <a:r>
              <a:rPr lang="en-US" sz="1800" dirty="0"/>
              <a:t> – Provides scores, identifies strengths and weaknesses, and gives </a:t>
            </a:r>
            <a:r>
              <a:rPr lang="en-US" sz="1800" b="1" dirty="0"/>
              <a:t>actionable improvement suggestions</a:t>
            </a:r>
            <a:r>
              <a:rPr lang="en-US" sz="1800" dirty="0"/>
              <a:t> after candidate responses.</a:t>
            </a:r>
          </a:p>
          <a:p>
            <a:pPr algn="just"/>
            <a:r>
              <a:rPr lang="en-US" sz="1800" b="1" dirty="0"/>
              <a:t>Personalized Improvement Roadmap</a:t>
            </a:r>
            <a:r>
              <a:rPr lang="en-US" sz="1800" dirty="0"/>
              <a:t> – Identifies skill gaps and recommends areas the candidate should focus on to improve interview performance.</a:t>
            </a:r>
          </a:p>
          <a:p>
            <a:pPr algn="just"/>
            <a:r>
              <a:rPr lang="en-US" sz="1800" b="1" dirty="0"/>
              <a:t>IBM-Powered &amp; Scalable</a:t>
            </a:r>
            <a:r>
              <a:rPr lang="en-US" sz="1800" dirty="0"/>
              <a:t> – Built using </a:t>
            </a:r>
            <a:r>
              <a:rPr lang="en-US" sz="1800" b="1" dirty="0"/>
              <a:t>IBM Granite, watsonx.ai, </a:t>
            </a:r>
            <a:r>
              <a:rPr lang="en-US" sz="1800" b="1" dirty="0" err="1"/>
              <a:t>watsonx</a:t>
            </a:r>
            <a:r>
              <a:rPr lang="en-US" sz="1800" b="1" dirty="0"/>
              <a:t> Orchestrate, and IBM Cloud</a:t>
            </a:r>
            <a:r>
              <a:rPr lang="en-US" sz="1800" dirty="0"/>
              <a:t>, providing a reliable foundation for an AI-powered interview platform.</a:t>
            </a:r>
          </a:p>
          <a:p>
            <a:pPr algn="just"/>
            <a:r>
              <a:rPr lang="en-US" sz="1800" dirty="0"/>
              <a:t>This makes </a:t>
            </a:r>
            <a:r>
              <a:rPr lang="en-US" sz="1800" dirty="0" err="1"/>
              <a:t>InterviewIQ</a:t>
            </a:r>
            <a:r>
              <a:rPr lang="en-US" sz="1800" dirty="0"/>
              <a:t> a </a:t>
            </a:r>
            <a:r>
              <a:rPr lang="en-US" sz="1800" b="1" dirty="0"/>
              <a:t>smart, adaptive, and personalized AI interview coach</a:t>
            </a:r>
            <a:r>
              <a:rPr lang="en-US" sz="1800" dirty="0"/>
              <a:t>, rather than just a static interview-question generator.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 err="1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https://github.com/UMESHKRISHNAA2006/InterviewIQ-Agentic-AI-Interview-Trainer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b="1" dirty="0"/>
              <a:t>1. Voice-Based AI Interview &amp; Multilingual Support</a:t>
            </a:r>
            <a:r>
              <a:rPr lang="en-US" sz="2000" dirty="0"/>
              <a:t> –</a:t>
            </a:r>
            <a:br>
              <a:rPr lang="en-US" sz="2000" dirty="0"/>
            </a:br>
            <a:r>
              <a:rPr lang="en-US" sz="2000" dirty="0"/>
              <a:t>The system can be enhanced with a </a:t>
            </a:r>
            <a:r>
              <a:rPr lang="en-US" sz="2000" b="1" dirty="0"/>
              <a:t>voice-enabled interviewer</a:t>
            </a:r>
            <a:r>
              <a:rPr lang="en-US" sz="2000" dirty="0"/>
              <a:t> that allows candidates to answer questions naturally through speech. Support for multiple languages can make </a:t>
            </a:r>
            <a:r>
              <a:rPr lang="en-US" sz="2000" dirty="0" err="1"/>
              <a:t>InterviewIQ</a:t>
            </a:r>
            <a:r>
              <a:rPr lang="en-US" sz="2000" dirty="0"/>
              <a:t> more accessible to candidates from diverse backgrounds.</a:t>
            </a:r>
          </a:p>
          <a:p>
            <a:r>
              <a:rPr lang="en-US" sz="2000" b="1" dirty="0"/>
              <a:t>2. Advanced Interview Analytics</a:t>
            </a:r>
            <a:r>
              <a:rPr lang="en-US" sz="2000" dirty="0"/>
              <a:t> –</a:t>
            </a:r>
            <a:br>
              <a:rPr lang="en-US" sz="2000" dirty="0"/>
            </a:br>
            <a:r>
              <a:rPr lang="en-US" sz="2000" dirty="0"/>
              <a:t>The system can provide detailed analytics on </a:t>
            </a:r>
            <a:r>
              <a:rPr lang="en-US" sz="2000" b="1" dirty="0"/>
              <a:t>technical skills, communication, confidence, answer quality, and performance trends</a:t>
            </a:r>
            <a:r>
              <a:rPr lang="en-US" sz="2000" dirty="0"/>
              <a:t>, helping candidates track their improvement over multiple interview sessions.</a:t>
            </a:r>
          </a:p>
          <a:p>
            <a:r>
              <a:rPr lang="en-US" sz="2000" b="1" dirty="0"/>
              <a:t>3. Company-Specific Interview Preparation</a:t>
            </a:r>
            <a:r>
              <a:rPr lang="en-US" sz="2000" dirty="0"/>
              <a:t> –</a:t>
            </a:r>
            <a:br>
              <a:rPr lang="en-US" sz="2000" dirty="0"/>
            </a:br>
            <a:r>
              <a:rPr lang="en-US" sz="2000" dirty="0" err="1"/>
              <a:t>InterviewIQ</a:t>
            </a:r>
            <a:r>
              <a:rPr lang="en-US" sz="2000" dirty="0"/>
              <a:t> can be enhanced to analyze </a:t>
            </a:r>
            <a:r>
              <a:rPr lang="en-US" sz="2000" b="1" dirty="0"/>
              <a:t>company-specific job descriptions, interview patterns, and role expectations</a:t>
            </a:r>
            <a:r>
              <a:rPr lang="en-US" sz="2000" dirty="0"/>
              <a:t> to provide more targeted preparation for companies such as Microsoft, NVIDIA, Salesforce, and others.</a:t>
            </a:r>
          </a:p>
          <a:p>
            <a:r>
              <a:rPr lang="en-US" sz="2000" b="1" dirty="0"/>
              <a:t>4. Continuous Candidate Progress Tracking</a:t>
            </a:r>
            <a:r>
              <a:rPr lang="en-US" sz="2000" dirty="0"/>
              <a:t> –</a:t>
            </a:r>
            <a:br>
              <a:rPr lang="en-US" sz="2000" dirty="0"/>
            </a:br>
            <a:r>
              <a:rPr lang="en-US" sz="2000" dirty="0"/>
              <a:t>Future versions can maintain a candidate's interview history and track </a:t>
            </a:r>
            <a:r>
              <a:rPr lang="en-US" sz="2000" b="1" dirty="0"/>
              <a:t>skill improvement, recurring weaknesses, and progress over time</a:t>
            </a:r>
            <a:r>
              <a:rPr lang="en-US" sz="2000" dirty="0"/>
              <a:t>, creating a long-term personalized preparation plan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/>
              <a:t>Getting </a:t>
            </a:r>
            <a:r>
              <a:rPr lang="en-US" sz="2400" b="1" dirty="0"/>
              <a:t>Started with Artificial </a:t>
            </a:r>
            <a:r>
              <a:rPr lang="en-US" sz="2400" b="1" dirty="0" smtClean="0"/>
              <a:t>Intelligence </a:t>
            </a:r>
            <a:r>
              <a:rPr lang="en-US" sz="2400" b="1" dirty="0"/>
              <a:t> 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237" y="1281793"/>
            <a:ext cx="6999977" cy="524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/>
              <a:t>Getting </a:t>
            </a:r>
            <a:r>
              <a:rPr lang="en-US" sz="2400" b="1" dirty="0"/>
              <a:t>Started with </a:t>
            </a:r>
            <a:r>
              <a:rPr lang="en-US" sz="2400" b="1" dirty="0" smtClean="0"/>
              <a:t>Cybersecurity</a:t>
            </a:r>
            <a:r>
              <a:rPr lang="en-US" sz="2400" b="1" dirty="0" smtClean="0"/>
              <a:t> </a:t>
            </a:r>
            <a:r>
              <a:rPr lang="en-US" sz="2400" b="1" dirty="0"/>
              <a:t> 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518" y="1469571"/>
            <a:ext cx="6756017" cy="509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60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/>
              <a:t>IBM </a:t>
            </a:r>
            <a:r>
              <a:rPr lang="en-US" sz="2000" b="1" dirty="0"/>
              <a:t>BOB Certificate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392" y="1372030"/>
            <a:ext cx="7870182" cy="485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1307</Words>
  <Application>Microsoft Office PowerPoint</Application>
  <PresentationFormat>Custom</PresentationFormat>
  <Paragraphs>113</Paragraphs>
  <Slides>21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Gangadharam Umesh Krishnaa</dc:creator>
  <cp:lastModifiedBy>admin</cp:lastModifiedBy>
  <cp:revision>8</cp:revision>
  <dcterms:created xsi:type="dcterms:W3CDTF">2025-07-08T05:06:56Z</dcterms:created>
  <dcterms:modified xsi:type="dcterms:W3CDTF">2026-09-10T18:52:40Z</dcterms:modified>
</cp:coreProperties>
</file>